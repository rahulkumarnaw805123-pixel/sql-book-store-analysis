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4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>
        <p:scale>
          <a:sx n="66" d="100"/>
          <a:sy n="66" d="100"/>
        </p:scale>
        <p:origin x="-1930" y="-45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ubtitle 8"/>
          <p:cNvSpPr>
            <a:spLocks noGrp="1"/>
          </p:cNvSpPr>
          <p:nvPr>
            <p:ph type="subTitle" idx="1"/>
          </p:nvPr>
        </p:nvSpPr>
        <p:spPr>
          <a:xfrm>
            <a:off x="457200" y="3699804"/>
            <a:ext cx="8305800" cy="1143000"/>
          </a:xfrm>
        </p:spPr>
        <p:txBody>
          <a:bodyPr>
            <a:noAutofit/>
          </a:bodyPr>
          <a:lstStyle>
            <a:lvl1pPr marL="0" indent="0" algn="ctr">
              <a:buNone/>
              <a:defRPr sz="2200" spc="10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sp>
        <p:nvSpPr>
          <p:cNvPr id="28" name="Title 27"/>
          <p:cNvSpPr>
            <a:spLocks noGrp="1"/>
          </p:cNvSpPr>
          <p:nvPr>
            <p:ph type="ctrTitle"/>
          </p:nvPr>
        </p:nvSpPr>
        <p:spPr>
          <a:xfrm>
            <a:off x="457200" y="1433732"/>
            <a:ext cx="8305800" cy="1981200"/>
          </a:xfrm>
          <a:ln w="6350" cap="rnd">
            <a:noFill/>
          </a:ln>
        </p:spPr>
        <p:txBody>
          <a:bodyPr anchor="b" anchorCtr="0">
            <a:noAutofit/>
          </a:bodyPr>
          <a:lstStyle>
            <a:lvl1pPr algn="ctr">
              <a:defRPr lang="en-US" sz="4800" b="0" dirty="0">
                <a:ln w="3200">
                  <a:solidFill>
                    <a:schemeClr val="bg2">
                      <a:shade val="7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50800" dist="25400" dir="13500000">
                    <a:srgbClr val="000000">
                      <a:alpha val="70000"/>
                    </a:srgb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cxnSp>
        <p:nvCxnSpPr>
          <p:cNvPr id="8" name="Straight Connector 7"/>
          <p:cNvCxnSpPr/>
          <p:nvPr/>
        </p:nvCxnSpPr>
        <p:spPr>
          <a:xfrm>
            <a:off x="1463626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708574" y="3550126"/>
            <a:ext cx="2971800" cy="1588"/>
          </a:xfrm>
          <a:prstGeom prst="line">
            <a:avLst/>
          </a:prstGeom>
          <a:ln w="9525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/>
          <p:cNvSpPr/>
          <p:nvPr/>
        </p:nvSpPr>
        <p:spPr>
          <a:xfrm>
            <a:off x="4540348" y="3526302"/>
            <a:ext cx="45720" cy="45720"/>
          </a:xfrm>
          <a:prstGeom prst="ellipse">
            <a:avLst/>
          </a:prstGeom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2">
            <a:schemeClr val="accent2"/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Date Placeholder 1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6775E-2F7F-4FFD-8973-AD080CBFAA52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16" name="Slide Number Placeholder 15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79575A-F04C-47AF-B3A2-EB95B5B89C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Content Placeholder 8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4" name="Date Placeholder 13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F76775E-2F7F-4FFD-8973-AD080CBFAA52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15" name="Slide Number Placeholder 14"/>
          <p:cNvSpPr>
            <a:spLocks noGrp="1"/>
          </p:cNvSpPr>
          <p:nvPr>
            <p:ph type="sldNum" sz="quarter" idx="15"/>
          </p:nvPr>
        </p:nvSpPr>
        <p:spPr/>
        <p:txBody>
          <a:bodyPr/>
          <a:lstStyle>
            <a:lvl1pPr algn="ctr">
              <a:defRPr/>
            </a:lvl1pPr>
          </a:lstStyle>
          <a:p>
            <a:fld id="{AF79575A-F04C-47AF-B3A2-EB95B5B89C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7" name="Title 16"/>
          <p:cNvSpPr>
            <a:spLocks noGrp="1"/>
          </p:cNvSpPr>
          <p:nvPr>
            <p:ph type="title"/>
          </p:nvPr>
        </p:nvSpPr>
        <p:spPr/>
        <p:txBody>
          <a:bodyPr rtlCol="0" anchor="b" anchorCtr="0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6775E-2F7F-4FFD-8973-AD080CBFAA52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9575A-F04C-47AF-B3A2-EB95B5B89C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505200"/>
            <a:ext cx="7924800" cy="1371600"/>
          </a:xfrm>
        </p:spPr>
        <p:txBody>
          <a:bodyPr>
            <a:noAutofit/>
          </a:bodyPr>
          <a:lstStyle>
            <a:lvl1pPr algn="l" rtl="0">
              <a:spcBef>
                <a:spcPct val="0"/>
              </a:spcBef>
              <a:buNone/>
              <a:defRPr lang="en-US" sz="4800" b="0" dirty="0">
                <a:ln w="3200">
                  <a:solidFill>
                    <a:schemeClr val="bg2">
                      <a:shade val="25000"/>
                      <a:alpha val="25000"/>
                    </a:schemeClr>
                  </a:solidFill>
                  <a:prstDash val="solid"/>
                  <a:round/>
                </a:ln>
                <a:solidFill>
                  <a:srgbClr val="F9F9F9"/>
                </a:solidFill>
                <a:effectLst>
                  <a:innerShdw blurRad="38100" dist="25400" dir="13500000">
                    <a:prstClr val="black">
                      <a:alpha val="70000"/>
                    </a:prstClr>
                  </a:innerShdw>
                </a:effectLst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958864"/>
            <a:ext cx="7924800" cy="984736"/>
          </a:xfrm>
        </p:spPr>
        <p:txBody>
          <a:bodyPr anchor="t"/>
          <a:lstStyle>
            <a:lvl1pPr marL="0" indent="0">
              <a:buNone/>
              <a:defRPr sz="2000" spc="10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7" name="Straight Connector 6"/>
          <p:cNvCxnSpPr/>
          <p:nvPr/>
        </p:nvCxnSpPr>
        <p:spPr>
          <a:xfrm>
            <a:off x="685800" y="4916992"/>
            <a:ext cx="7924800" cy="4301"/>
          </a:xfrm>
          <a:prstGeom prst="line">
            <a:avLst/>
          </a:prstGeom>
          <a:noFill/>
          <a:ln w="9525" cap="flat" cmpd="sng" algn="ctr">
            <a:solidFill>
              <a:srgbClr val="E9E9E8"/>
            </a:solidFill>
            <a:prstDash val="solid"/>
          </a:ln>
          <a:effectLst>
            <a:outerShdw blurRad="31750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6775E-2F7F-4FFD-8973-AD080CBFAA52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9575A-F04C-47AF-B3A2-EB95B5B89C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1" name="Content Placeholder 10"/>
          <p:cNvSpPr>
            <a:spLocks noGrp="1"/>
          </p:cNvSpPr>
          <p:nvPr>
            <p:ph sz="half" idx="1"/>
          </p:nvPr>
        </p:nvSpPr>
        <p:spPr>
          <a:xfrm>
            <a:off x="457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13" name="Content Placeholder 12"/>
          <p:cNvSpPr>
            <a:spLocks noGrp="1"/>
          </p:cNvSpPr>
          <p:nvPr>
            <p:ph sz="half" idx="2"/>
          </p:nvPr>
        </p:nvSpPr>
        <p:spPr>
          <a:xfrm>
            <a:off x="4648200" y="1524000"/>
            <a:ext cx="4059936" cy="4572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9575A-F04C-47AF-B3A2-EB95B5B89C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6775E-2F7F-4FFD-8973-AD080CBFAA52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  <a:sp3d prstMaterial="flat"/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2" name="Content Placeholder 31"/>
          <p:cNvSpPr>
            <a:spLocks noGrp="1"/>
          </p:cNvSpPr>
          <p:nvPr>
            <p:ph sz="half" idx="2"/>
          </p:nvPr>
        </p:nvSpPr>
        <p:spPr>
          <a:xfrm>
            <a:off x="457200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4" name="Content Placeholder 33"/>
          <p:cNvSpPr>
            <a:spLocks noGrp="1"/>
          </p:cNvSpPr>
          <p:nvPr>
            <p:ph sz="quarter" idx="4"/>
          </p:nvPr>
        </p:nvSpPr>
        <p:spPr>
          <a:xfrm>
            <a:off x="4649788" y="2201896"/>
            <a:ext cx="4038600" cy="3913632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55448"/>
            <a:ext cx="8229600" cy="1143000"/>
          </a:xfrm>
        </p:spPr>
        <p:txBody>
          <a:bodyPr anchor="b" anchorCtr="0"/>
          <a:lstStyle>
            <a:lvl1pPr>
              <a:defRPr/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2" name="Text Placeholder 11"/>
          <p:cNvSpPr>
            <a:spLocks noGrp="1"/>
          </p:cNvSpPr>
          <p:nvPr>
            <p:ph type="body" idx="3"/>
          </p:nvPr>
        </p:nvSpPr>
        <p:spPr>
          <a:xfrm>
            <a:off x="4648200" y="1399593"/>
            <a:ext cx="4040188" cy="762000"/>
          </a:xfrm>
          <a:noFill/>
          <a:ln w="25400" cap="rnd" cmpd="sng" algn="ctr">
            <a:noFill/>
            <a:prstDash val="solid"/>
          </a:ln>
          <a:effectLst>
            <a:softEdge rad="63500"/>
          </a:effectLst>
        </p:spPr>
        <p:style>
          <a:lnRef idx="3">
            <a:schemeClr val="lt1"/>
          </a:lnRef>
          <a:fillRef idx="1">
            <a:schemeClr val="accent5"/>
          </a:fillRef>
          <a:effectRef idx="1">
            <a:schemeClr val="accent5"/>
          </a:effectRef>
          <a:fontRef idx="minor">
            <a:schemeClr val="lt1"/>
          </a:fontRef>
        </p:style>
        <p:txBody>
          <a:bodyPr lIns="91440" tIns="45720" rIns="91440" bIns="45720" anchor="b">
            <a:noAutofit/>
          </a:bodyPr>
          <a:lstStyle>
            <a:lvl1pPr marL="0" indent="0" algn="l">
              <a:spcBef>
                <a:spcPts val="0"/>
              </a:spcBef>
              <a:buNone/>
              <a:defRPr sz="2600" b="1" baseline="0">
                <a:solidFill>
                  <a:schemeClr val="tx2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cxnSp>
        <p:nvCxnSpPr>
          <p:cNvPr id="10" name="Straight Connector 9"/>
          <p:cNvCxnSpPr/>
          <p:nvPr/>
        </p:nvCxnSpPr>
        <p:spPr>
          <a:xfrm>
            <a:off x="562945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>
            <a:off x="4754880" y="2180219"/>
            <a:ext cx="3749040" cy="1588"/>
          </a:xfrm>
          <a:prstGeom prst="line">
            <a:avLst/>
          </a:prstGeom>
          <a:noFill/>
          <a:ln w="12700" cap="flat" cmpd="sng" algn="ctr">
            <a:solidFill>
              <a:schemeClr val="bg2">
                <a:tint val="20000"/>
              </a:schemeClr>
            </a:solidFill>
            <a:prstDash val="solid"/>
          </a:ln>
          <a:effectLst>
            <a:outerShdw blurRad="34925" dir="2700000" algn="tl" rotWithShape="0">
              <a:srgbClr val="000000">
                <a:alpha val="55000"/>
              </a:srgbClr>
            </a:outerShdw>
          </a:effectLst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6775E-2F7F-4FFD-8973-AD080CBFAA52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9575A-F04C-47AF-B3A2-EB95B5B89C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6775E-2F7F-4FFD-8973-AD080CBFAA52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9575A-F04C-47AF-B3A2-EB95B5B89C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Content Placeholder 28"/>
          <p:cNvSpPr>
            <a:spLocks noGrp="1"/>
          </p:cNvSpPr>
          <p:nvPr>
            <p:ph sz="quarter" idx="1"/>
          </p:nvPr>
        </p:nvSpPr>
        <p:spPr>
          <a:xfrm>
            <a:off x="457200" y="457200"/>
            <a:ext cx="6248400" cy="5715000"/>
          </a:xfrm>
        </p:spPr>
        <p:txBody>
          <a:bodyPr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6781800" y="1600200"/>
            <a:ext cx="1984248" cy="3733800"/>
          </a:xfrm>
        </p:spPr>
        <p:txBody>
          <a:bodyPr tIns="45720" bIns="45720"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None/>
              <a:defRPr sz="1600">
                <a:solidFill>
                  <a:schemeClr val="tx2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1" name="Title 30"/>
          <p:cNvSpPr>
            <a:spLocks noGrp="1"/>
          </p:cNvSpPr>
          <p:nvPr>
            <p:ph type="title"/>
          </p:nvPr>
        </p:nvSpPr>
        <p:spPr>
          <a:xfrm>
            <a:off x="6781800" y="457200"/>
            <a:ext cx="19812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F76775E-2F7F-4FFD-8973-AD080CBFAA52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AF79575A-F04C-47AF-B3A2-EB95B5B89C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629400" y="457200"/>
            <a:ext cx="2057400" cy="1066800"/>
          </a:xfrm>
        </p:spPr>
        <p:txBody>
          <a:bodyPr lIns="91440" tIns="91440" anchor="b" anchorCtr="0"/>
          <a:lstStyle>
            <a:lvl1pPr algn="l">
              <a:buNone/>
              <a:defRPr sz="1800" b="1" spc="-50" baseline="0">
                <a:ln w="3175">
                  <a:noFill/>
                </a:ln>
                <a:solidFill>
                  <a:schemeClr val="tx2"/>
                </a:solidFill>
                <a:effectLst/>
                <a:latin typeface="+mn-lt"/>
                <a:ea typeface="+mn-ea"/>
                <a:cs typeface="+mn-cs"/>
              </a:defRPr>
            </a:lvl1pPr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457200" y="457200"/>
            <a:ext cx="6019800" cy="5562600"/>
          </a:xfrm>
          <a:solidFill>
            <a:schemeClr val="tx2">
              <a:tint val="40000"/>
            </a:schemeClr>
          </a:solidFill>
          <a:effectLst>
            <a:outerShdw blurRad="88900" sx="103000" sy="103000" algn="ctr" rotWithShape="0">
              <a:prstClr val="black">
                <a:alpha val="32000"/>
              </a:prstClr>
            </a:outerShdw>
            <a:softEdge rad="127000"/>
          </a:effectLst>
        </p:spPr>
        <p:txBody>
          <a:bodyPr/>
          <a:lstStyle>
            <a:lvl1pPr marL="0" indent="0">
              <a:buNone/>
              <a:defRPr sz="3200">
                <a:solidFill>
                  <a:schemeClr val="bg1"/>
                </a:solidFill>
              </a:defRPr>
            </a:lvl1pPr>
          </a:lstStyle>
          <a:p>
            <a:r>
              <a:rPr kumimoji="0" lang="en-US" smtClean="0"/>
              <a:t>Click icon to add picture</a:t>
            </a:r>
            <a:endParaRPr kumimoji="0"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629400" y="1600200"/>
            <a:ext cx="2057400" cy="4419600"/>
          </a:xfrm>
        </p:spPr>
        <p:txBody>
          <a:bodyPr anchor="t" anchorCtr="0"/>
          <a:lstStyle>
            <a:lvl1pPr marL="0" indent="0">
              <a:lnSpc>
                <a:spcPct val="125000"/>
              </a:lnSpc>
              <a:spcAft>
                <a:spcPts val="1000"/>
              </a:spcAft>
              <a:buFontTx/>
              <a:buNone/>
              <a:defRPr sz="1600" b="0">
                <a:solidFill>
                  <a:schemeClr val="tx2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6775E-2F7F-4FFD-8973-AD080CBFAA52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AF79575A-F04C-47AF-B3A2-EB95B5B89C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6775E-2F7F-4FFD-8973-AD080CBFAA52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9575A-F04C-47AF-B3A2-EB95B5B89C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F76775E-2F7F-4FFD-8973-AD080CBFAA52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79575A-F04C-47AF-B3A2-EB95B5B89C72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 Placeholder 8"/>
          <p:cNvSpPr>
            <a:spLocks noGrp="1"/>
          </p:cNvSpPr>
          <p:nvPr>
            <p:ph type="body" idx="1"/>
          </p:nvPr>
        </p:nvSpPr>
        <p:spPr>
          <a:xfrm>
            <a:off x="457200" y="1447800"/>
            <a:ext cx="8229600" cy="4678363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24" name="Date Placeholder 23"/>
          <p:cNvSpPr>
            <a:spLocks noGrp="1"/>
          </p:cNvSpPr>
          <p:nvPr>
            <p:ph type="dt" sz="half" idx="2"/>
          </p:nvPr>
        </p:nvSpPr>
        <p:spPr>
          <a:xfrm>
            <a:off x="5791200" y="6203667"/>
            <a:ext cx="2590800" cy="384048"/>
          </a:xfrm>
          <a:prstGeom prst="rect">
            <a:avLst/>
          </a:prstGeom>
        </p:spPr>
        <p:txBody>
          <a:bodyPr vert="horz" anchor="ctr" anchorCtr="0"/>
          <a:lstStyle>
            <a:lvl1pPr algn="l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fld id="{8F76775E-2F7F-4FFD-8973-AD080CBFAA52}" type="datetimeFigureOut">
              <a:rPr lang="en-US" smtClean="0"/>
              <a:pPr/>
              <a:t>2/6/2026</a:t>
            </a:fld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3"/>
          </p:nvPr>
        </p:nvSpPr>
        <p:spPr>
          <a:xfrm>
            <a:off x="2133600" y="6203667"/>
            <a:ext cx="3581400" cy="384048"/>
          </a:xfrm>
          <a:prstGeom prst="rect">
            <a:avLst/>
          </a:prstGeom>
        </p:spPr>
        <p:txBody>
          <a:bodyPr vert="horz" anchor="ctr" anchorCtr="0"/>
          <a:lstStyle>
            <a:lvl1pPr algn="r" eaLnBrk="1" latinLnBrk="0" hangingPunct="1">
              <a:defRPr kumimoji="0" sz="1200">
                <a:solidFill>
                  <a:schemeClr val="tx2"/>
                </a:solidFill>
              </a:defRPr>
            </a:lvl1pPr>
          </a:lstStyle>
          <a:p>
            <a:endParaRPr lang="en-US"/>
          </a:p>
        </p:txBody>
      </p:sp>
      <p:sp>
        <p:nvSpPr>
          <p:cNvPr id="22" name="Slide Number Placeholder 21"/>
          <p:cNvSpPr>
            <a:spLocks noGrp="1"/>
          </p:cNvSpPr>
          <p:nvPr>
            <p:ph type="sldNum" sz="quarter" idx="4"/>
          </p:nvPr>
        </p:nvSpPr>
        <p:spPr>
          <a:xfrm>
            <a:off x="8410575" y="6181531"/>
            <a:ext cx="609600" cy="457200"/>
          </a:xfrm>
          <a:prstGeom prst="rect">
            <a:avLst/>
          </a:prstGeom>
          <a:noFill/>
        </p:spPr>
        <p:txBody>
          <a:bodyPr vert="horz" lIns="0" tIns="0" rIns="0" bIns="0" anchor="ctr" anchorCtr="0">
            <a:noAutofit/>
          </a:bodyPr>
          <a:lstStyle>
            <a:lvl1pPr algn="ctr" eaLnBrk="1" latinLnBrk="0" hangingPunct="1">
              <a:defRPr kumimoji="0" sz="1600" baseline="0">
                <a:solidFill>
                  <a:schemeClr val="tx2"/>
                </a:solidFill>
              </a:defRPr>
            </a:lvl1pPr>
          </a:lstStyle>
          <a:p>
            <a:fld id="{AF79575A-F04C-47AF-B3A2-EB95B5B89C72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Placeholder 4"/>
          <p:cNvSpPr>
            <a:spLocks noGrp="1"/>
          </p:cNvSpPr>
          <p:nvPr>
            <p:ph type="title"/>
          </p:nvPr>
        </p:nvSpPr>
        <p:spPr>
          <a:xfrm>
            <a:off x="457200" y="152400"/>
            <a:ext cx="8229600" cy="1219200"/>
          </a:xfrm>
          <a:prstGeom prst="rect">
            <a:avLst/>
          </a:prstGeom>
          <a:ln w="6350" cap="rnd">
            <a:noFill/>
          </a:ln>
        </p:spPr>
        <p:txBody>
          <a:bodyPr vert="horz" anchor="b" anchorCtr="0">
            <a:normAutofit/>
          </a:bodyPr>
          <a:lstStyle/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 bg1="dk1" tx1="lt1" bg2="dk2" tx2="lt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p:txStyles>
    <p:titleStyle>
      <a:lvl1pPr algn="l" rtl="0" eaLnBrk="1" latinLnBrk="0" hangingPunct="1">
        <a:spcBef>
          <a:spcPct val="0"/>
        </a:spcBef>
        <a:buNone/>
        <a:defRPr kumimoji="0" lang="en-US" sz="4200" b="0" kern="1200" spc="-100" baseline="0" dirty="0">
          <a:ln w="3200">
            <a:solidFill>
              <a:schemeClr val="bg2">
                <a:shade val="75000"/>
                <a:alpha val="25000"/>
              </a:schemeClr>
            </a:solidFill>
            <a:prstDash val="solid"/>
            <a:round/>
          </a:ln>
          <a:solidFill>
            <a:srgbClr val="F9F9F9"/>
          </a:solidFill>
          <a:effectLst>
            <a:innerShdw blurRad="50800" dist="25400" dir="13500000">
              <a:prstClr val="black">
                <a:alpha val="70000"/>
              </a:prstClr>
            </a:innerShdw>
          </a:effectLst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ts val="600"/>
        </a:spcBef>
        <a:buClr>
          <a:schemeClr val="accent2"/>
        </a:buClr>
        <a:buSzPct val="85000"/>
        <a:buFont typeface="Wingdings 2"/>
        <a:buChar char=""/>
        <a:defRPr kumimoji="0" sz="260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indent="-27432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/>
        <a:buChar char=""/>
        <a:defRPr kumimoji="0" sz="2400" kern="1200">
          <a:solidFill>
            <a:schemeClr val="tx2"/>
          </a:solidFill>
          <a:latin typeface="+mn-lt"/>
          <a:ea typeface="+mn-ea"/>
          <a:cs typeface="+mn-cs"/>
        </a:defRPr>
      </a:lvl2pPr>
      <a:lvl3pPr marL="1005840" indent="-228600" algn="l" rtl="0" eaLnBrk="1" latinLnBrk="0" hangingPunct="1">
        <a:spcBef>
          <a:spcPts val="300"/>
        </a:spcBef>
        <a:buClr>
          <a:schemeClr val="accent2">
            <a:shade val="50000"/>
          </a:schemeClr>
        </a:buClr>
        <a:buSzPct val="85000"/>
        <a:buFont typeface="Wingdings 2"/>
        <a:buChar char="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280160" indent="-228600" algn="l" rtl="0" eaLnBrk="1" latinLnBrk="0" hangingPunct="1">
        <a:spcBef>
          <a:spcPts val="30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55448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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828800" indent="-22860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700" kern="1200">
          <a:solidFill>
            <a:schemeClr val="tx1"/>
          </a:solidFill>
          <a:latin typeface="+mn-lt"/>
          <a:ea typeface="+mn-ea"/>
          <a:cs typeface="+mn-cs"/>
        </a:defRPr>
      </a:lvl6pPr>
      <a:lvl7pPr marL="201168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28600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560320" indent="-182880" algn="l" rtl="0" eaLnBrk="1" latinLnBrk="0" hangingPunct="1">
        <a:spcBef>
          <a:spcPts val="340"/>
        </a:spcBef>
        <a:buClr>
          <a:schemeClr val="accent2">
            <a:shade val="75000"/>
          </a:schemeClr>
        </a:buClr>
        <a:buSzPct val="85000"/>
        <a:buFont typeface="Wingdings 2" pitchFamily="18" charset="2"/>
        <a:buChar char="?"/>
        <a:defRPr kumimoji="0"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jpe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jpe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jpe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e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jpe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jpe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3276600"/>
            <a:ext cx="9448800" cy="1676400"/>
          </a:xfrm>
        </p:spPr>
        <p:txBody>
          <a:bodyPr/>
          <a:lstStyle/>
          <a:p>
            <a:r>
              <a:rPr lang="en-US" dirty="0" smtClean="0"/>
              <a:t>SQL Beginner Level Project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9201"/>
            <a:ext cx="8077200" cy="1752599"/>
          </a:xfrm>
        </p:spPr>
        <p:txBody>
          <a:bodyPr/>
          <a:lstStyle/>
          <a:p>
            <a:r>
              <a:rPr lang="en-US" b="1" dirty="0" smtClean="0"/>
              <a:t>SQL BOOK STORE ANALYSIS</a:t>
            </a:r>
            <a:endParaRPr lang="en-US" b="1" dirty="0"/>
          </a:p>
        </p:txBody>
      </p:sp>
      <p:sp>
        <p:nvSpPr>
          <p:cNvPr id="5" name="Rectangle 4"/>
          <p:cNvSpPr/>
          <p:nvPr/>
        </p:nvSpPr>
        <p:spPr>
          <a:xfrm rot="10800000" flipV="1">
            <a:off x="2667000" y="4648200"/>
            <a:ext cx="37337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Prepared By:  </a:t>
            </a:r>
            <a:r>
              <a:rPr lang="en-US" dirty="0" err="1" smtClean="0"/>
              <a:t>Rahul</a:t>
            </a:r>
            <a:r>
              <a:rPr lang="en-US" dirty="0" smtClean="0"/>
              <a:t>  Kumar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 rot="10800000" flipV="1">
            <a:off x="2666999" y="5090994"/>
            <a:ext cx="3733799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Diploma in Computer Science</a:t>
            </a:r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305800" y="3352800"/>
            <a:ext cx="1143000" cy="228600"/>
          </a:xfrm>
        </p:spPr>
        <p:txBody>
          <a:bodyPr>
            <a:normAutofit fontScale="47500" lnSpcReduction="20000"/>
          </a:bodyPr>
          <a:lstStyle/>
          <a:p>
            <a:r>
              <a:rPr lang="en-US" dirty="0" err="1" smtClean="0"/>
              <a:t>rk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219201"/>
            <a:ext cx="8077200" cy="1219199"/>
          </a:xfrm>
        </p:spPr>
        <p:txBody>
          <a:bodyPr/>
          <a:lstStyle/>
          <a:p>
            <a:r>
              <a:rPr lang="en-US" b="1" dirty="0" smtClean="0"/>
              <a:t>PROJECT OVERVIEW</a:t>
            </a:r>
            <a:endParaRPr lang="en-US" b="1" dirty="0"/>
          </a:p>
        </p:txBody>
      </p:sp>
      <p:sp>
        <p:nvSpPr>
          <p:cNvPr id="7" name="Rectangle 6"/>
          <p:cNvSpPr/>
          <p:nvPr/>
        </p:nvSpPr>
        <p:spPr>
          <a:xfrm>
            <a:off x="685800" y="2895600"/>
            <a:ext cx="82296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This project is based on a Book Store Management System.</a:t>
            </a:r>
            <a:endParaRPr lang="en-US" dirty="0"/>
          </a:p>
        </p:txBody>
      </p:sp>
      <p:sp>
        <p:nvSpPr>
          <p:cNvPr id="8" name="Rectangle 7"/>
          <p:cNvSpPr/>
          <p:nvPr/>
        </p:nvSpPr>
        <p:spPr>
          <a:xfrm>
            <a:off x="685800" y="3276598"/>
            <a:ext cx="617220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SQL is used to manage Books, Customers, and Orders.</a:t>
            </a:r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 rot="10800000" flipV="1">
            <a:off x="685800" y="3733800"/>
            <a:ext cx="563857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Suitable for beginner level students.</a:t>
            </a:r>
            <a:endParaRPr lang="en-US" dirty="0"/>
          </a:p>
        </p:txBody>
      </p:sp>
      <p:sp>
        <p:nvSpPr>
          <p:cNvPr id="10" name="Rectangle 9"/>
          <p:cNvSpPr/>
          <p:nvPr/>
        </p:nvSpPr>
        <p:spPr>
          <a:xfrm>
            <a:off x="685800" y="4114800"/>
            <a:ext cx="5718080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/>
              <a:t>Covers basic &amp; advanced SQL queries.</a:t>
            </a:r>
            <a:endParaRPr lang="en-US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1295400"/>
            <a:ext cx="8686800" cy="5562600"/>
          </a:xfrm>
        </p:spPr>
        <p:txBody>
          <a:bodyPr>
            <a:normAutofit/>
          </a:bodyPr>
          <a:lstStyle/>
          <a:p>
            <a:pPr>
              <a:buNone/>
            </a:pPr>
            <a:r>
              <a:rPr lang="en-US" b="1" dirty="0" smtClean="0"/>
              <a:t>     </a:t>
            </a:r>
            <a:r>
              <a:rPr lang="en-US" b="1" dirty="0" smtClean="0">
                <a:solidFill>
                  <a:schemeClr val="tx2"/>
                </a:solidFill>
              </a:rPr>
              <a:t>1.Books Table</a:t>
            </a:r>
          </a:p>
          <a:p>
            <a:pPr>
              <a:buNone/>
            </a:pPr>
            <a:r>
              <a:rPr lang="en-US" dirty="0" smtClean="0"/>
              <a:t>     Book ID (Primary Key), Title, Author, </a:t>
            </a:r>
          </a:p>
          <a:p>
            <a:pPr>
              <a:buNone/>
            </a:pPr>
            <a:r>
              <a:rPr lang="en-US" dirty="0" smtClean="0"/>
              <a:t>     Genre, Published  Year, Price, Stock</a:t>
            </a:r>
          </a:p>
          <a:p>
            <a:pPr>
              <a:buNone/>
            </a:pPr>
            <a:r>
              <a:rPr lang="en-US" b="1" dirty="0" smtClean="0"/>
              <a:t>    </a:t>
            </a:r>
            <a:r>
              <a:rPr lang="en-US" b="1" dirty="0" smtClean="0">
                <a:solidFill>
                  <a:schemeClr val="tx2"/>
                </a:solidFill>
              </a:rPr>
              <a:t>2.Customers Table</a:t>
            </a:r>
          </a:p>
          <a:p>
            <a:pPr>
              <a:buNone/>
            </a:pPr>
            <a:r>
              <a:rPr lang="en-US" dirty="0" smtClean="0"/>
              <a:t> </a:t>
            </a:r>
            <a:r>
              <a:rPr lang="en-US" b="1" dirty="0" smtClean="0"/>
              <a:t>    </a:t>
            </a:r>
            <a:r>
              <a:rPr lang="en-US" dirty="0" smtClean="0"/>
              <a:t>customer  ID(Primary Key), Name, Email,</a:t>
            </a:r>
          </a:p>
          <a:p>
            <a:pPr>
              <a:buNone/>
            </a:pPr>
            <a:r>
              <a:rPr lang="en-US" dirty="0" smtClean="0"/>
              <a:t>     Phone, City, Country</a:t>
            </a:r>
          </a:p>
          <a:p>
            <a:pPr>
              <a:buNone/>
            </a:pPr>
            <a:r>
              <a:rPr lang="en-US" dirty="0" smtClean="0"/>
              <a:t>    </a:t>
            </a:r>
            <a:r>
              <a:rPr lang="en-US" dirty="0" smtClean="0">
                <a:solidFill>
                  <a:schemeClr val="tx2"/>
                </a:solidFill>
              </a:rPr>
              <a:t>3.</a:t>
            </a:r>
            <a:r>
              <a:rPr lang="en-US" b="1" dirty="0" smtClean="0">
                <a:solidFill>
                  <a:schemeClr val="tx2"/>
                </a:solidFill>
              </a:rPr>
              <a:t>Orders Table</a:t>
            </a:r>
          </a:p>
          <a:p>
            <a:pPr>
              <a:buNone/>
            </a:pPr>
            <a:r>
              <a:rPr lang="en-US" b="1" dirty="0" smtClean="0"/>
              <a:t>     </a:t>
            </a:r>
            <a:r>
              <a:rPr lang="en-US" dirty="0" smtClean="0"/>
              <a:t>Order  ID (Primary Key), Customer  ID (Foreign  Key),              Book  ID (Foreign Key), Order Date,  Quantity, </a:t>
            </a:r>
          </a:p>
          <a:p>
            <a:pPr>
              <a:buNone/>
            </a:pPr>
            <a:r>
              <a:rPr lang="en-US" dirty="0" smtClean="0"/>
              <a:t>     Total  Amount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76400" y="152400"/>
            <a:ext cx="7010400" cy="1219200"/>
          </a:xfrm>
        </p:spPr>
        <p:txBody>
          <a:bodyPr/>
          <a:lstStyle/>
          <a:p>
            <a:r>
              <a:rPr lang="en-US" dirty="0" smtClean="0"/>
              <a:t>DATABASE STRUCTURE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524000"/>
            <a:ext cx="9144000" cy="609600"/>
          </a:xfrm>
        </p:spPr>
        <p:txBody>
          <a:bodyPr>
            <a:normAutofit fontScale="85000" lnSpcReduction="20000"/>
          </a:bodyPr>
          <a:lstStyle/>
          <a:p>
            <a:r>
              <a:rPr lang="en-US" b="1" dirty="0" smtClean="0"/>
              <a:t>Comment:-- This query selects all columns from the Books table where genre is Fiction</a:t>
            </a:r>
          </a:p>
          <a:p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1219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Query 1: Retrieve all books in the Fiction genre</a:t>
            </a:r>
            <a:endParaRPr lang="en-US" dirty="0"/>
          </a:p>
        </p:txBody>
      </p:sp>
      <p:sp>
        <p:nvSpPr>
          <p:cNvPr id="6" name="Rectangle 5"/>
          <p:cNvSpPr/>
          <p:nvPr/>
        </p:nvSpPr>
        <p:spPr>
          <a:xfrm>
            <a:off x="609600" y="4813994"/>
            <a:ext cx="73914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Analysis:-</a:t>
            </a:r>
          </a:p>
          <a:p>
            <a:r>
              <a:rPr lang="en-US" dirty="0" smtClean="0"/>
              <a:t>This query is used to filter books based on their genre. The WHERE clause ensures only Fiction books are displayed.</a:t>
            </a:r>
            <a:endParaRPr lang="en-US" dirty="0"/>
          </a:p>
        </p:txBody>
      </p:sp>
      <p:sp>
        <p:nvSpPr>
          <p:cNvPr id="1026" name="AutoShape 2" descr="blob:https://web.whatsapp.com/91ec1eaf-3eaf-4624-a60f-ed686f9c397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28" name="AutoShape 4" descr="blob:https://web.whatsapp.com/91ec1eaf-3eaf-4624-a60f-ed686f9c397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0" name="AutoShape 6" descr="blob:https://web.whatsapp.com/91ec1eaf-3eaf-4624-a60f-ed686f9c397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1032" name="AutoShape 8" descr="blob:https://web.whatsapp.com/91ec1eaf-3eaf-4624-a60f-ed686f9c3976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pic>
        <p:nvPicPr>
          <p:cNvPr id="11" name="Picture 10" descr="Q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621280"/>
            <a:ext cx="5562600" cy="134112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" y="1600200"/>
            <a:ext cx="8991600" cy="457200"/>
          </a:xfrm>
        </p:spPr>
        <p:txBody>
          <a:bodyPr>
            <a:normAutofit fontScale="92500"/>
          </a:bodyPr>
          <a:lstStyle/>
          <a:p>
            <a:r>
              <a:rPr lang="en-US" dirty="0" smtClean="0"/>
              <a:t>Comment:-- This query retrieves books published after the year 1950.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85800"/>
            <a:ext cx="7772400" cy="762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Query 2: Find books published after 1950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685800" y="4952494"/>
            <a:ext cx="61722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Analysis:-</a:t>
            </a:r>
          </a:p>
          <a:p>
            <a:r>
              <a:rPr lang="en-US" dirty="0" smtClean="0"/>
              <a:t>It helps in finding relatively modern books by comparing the published year.</a:t>
            </a:r>
            <a:endParaRPr lang="en-US" dirty="0"/>
          </a:p>
        </p:txBody>
      </p:sp>
      <p:pic>
        <p:nvPicPr>
          <p:cNvPr id="5" name="Picture 4" descr="Q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590800"/>
            <a:ext cx="4953000" cy="16764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1828800"/>
            <a:ext cx="7696200" cy="5334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/>
              <a:t>Comment:-- This query fetches customer records where the country is Canada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762000"/>
            <a:ext cx="7772400" cy="838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Query 3: List all customers from Canada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66800" y="5105401"/>
            <a:ext cx="5791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Analysis:-</a:t>
            </a:r>
          </a:p>
          <a:p>
            <a:r>
              <a:rPr lang="en-US" dirty="0" smtClean="0"/>
              <a:t>Useful for country-based customer analysis.</a:t>
            </a:r>
            <a:endParaRPr lang="en-US" dirty="0"/>
          </a:p>
        </p:txBody>
      </p:sp>
      <p:pic>
        <p:nvPicPr>
          <p:cNvPr id="5" name="Picture 4" descr="Q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2743200"/>
            <a:ext cx="4267200" cy="16002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752600"/>
            <a:ext cx="7924800" cy="5334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/>
              <a:t>Comment:-- This query filters orders placed within November 2023.</a:t>
            </a:r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0"/>
            <a:ext cx="7772400" cy="1219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Query 4: Show orders placed in November 2023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90600" y="4648201"/>
            <a:ext cx="52578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Analysis:-</a:t>
            </a:r>
          </a:p>
          <a:p>
            <a:r>
              <a:rPr lang="en-US" dirty="0" smtClean="0"/>
              <a:t>The BETWEEN operator is used to select a range of dates.</a:t>
            </a:r>
            <a:endParaRPr lang="en-US" dirty="0"/>
          </a:p>
        </p:txBody>
      </p:sp>
      <p:pic>
        <p:nvPicPr>
          <p:cNvPr id="5" name="Picture 4" descr="Q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590800"/>
            <a:ext cx="5334000" cy="15240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33400" y="1752600"/>
            <a:ext cx="8153400" cy="6858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Comment:-- This query calculates the total stock of all books.</a:t>
            </a:r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7772400" cy="990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Query 5: Retrieve total stock of books available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66800" y="4952494"/>
            <a:ext cx="4724400" cy="91490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Analysis:-</a:t>
            </a:r>
          </a:p>
          <a:p>
            <a:r>
              <a:rPr lang="en-US" dirty="0" smtClean="0"/>
              <a:t>SUM() aggregate function is used to get total available inventory.</a:t>
            </a:r>
            <a:endParaRPr lang="en-US" dirty="0"/>
          </a:p>
        </p:txBody>
      </p:sp>
      <p:pic>
        <p:nvPicPr>
          <p:cNvPr id="5" name="Picture 4" descr="Q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7800" y="2819400"/>
            <a:ext cx="5715000" cy="15240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0" y="1752600"/>
            <a:ext cx="9448800" cy="5334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/>
              <a:t>Comment:-- This query sorts books by price in descending order and returns the top record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0"/>
            <a:ext cx="7772400" cy="1371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Query 6: Find the most expensive book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14400" y="4953000"/>
            <a:ext cx="5257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Analysis:-</a:t>
            </a:r>
          </a:p>
          <a:p>
            <a:r>
              <a:rPr lang="en-US" dirty="0" smtClean="0"/>
              <a:t>Useful to identify premium-priced books.</a:t>
            </a:r>
            <a:endParaRPr lang="en-US" dirty="0"/>
          </a:p>
        </p:txBody>
      </p:sp>
      <p:pic>
        <p:nvPicPr>
          <p:cNvPr id="5" name="Picture 4" descr="Q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667000"/>
            <a:ext cx="5181600" cy="14478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752600"/>
            <a:ext cx="8458200" cy="6096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Comment:-- This query retrieves orders with quantity greater than one.</a:t>
            </a:r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04800" y="228600"/>
            <a:ext cx="8610600" cy="13716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Query 7: Show orders where quantity is more than 1</a:t>
            </a:r>
            <a:endParaRPr lang="en-US" dirty="0"/>
          </a:p>
        </p:txBody>
      </p:sp>
      <p:pic>
        <p:nvPicPr>
          <p:cNvPr id="4" name="Picture 3" descr="Q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57400" y="2971800"/>
            <a:ext cx="4953000" cy="14478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  <p:sp>
        <p:nvSpPr>
          <p:cNvPr id="5" name="Rectangle 4"/>
          <p:cNvSpPr/>
          <p:nvPr/>
        </p:nvSpPr>
        <p:spPr>
          <a:xfrm>
            <a:off x="685801" y="5275659"/>
            <a:ext cx="5911626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Analysis:-</a:t>
            </a:r>
          </a:p>
          <a:p>
            <a:r>
              <a:rPr lang="en-US" dirty="0" smtClean="0"/>
              <a:t>Helps to identify bulk purchases.</a:t>
            </a:r>
            <a:endParaRPr lang="en-US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676400"/>
            <a:ext cx="8001000" cy="4572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smtClean="0"/>
              <a:t>Comment:-- This query filters orders with total amount greater than 20</a:t>
            </a:r>
            <a:r>
              <a:rPr lang="en-US" dirty="0" smtClean="0"/>
              <a:t>.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609600"/>
            <a:ext cx="7772400" cy="8382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Query 8: Retrieve orders where total amount exceeds 20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14400" y="4953000"/>
            <a:ext cx="5943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Analysis:-</a:t>
            </a:r>
          </a:p>
          <a:p>
            <a:r>
              <a:rPr lang="en-US" dirty="0" smtClean="0"/>
              <a:t>Used for analyzing higher-value orders. </a:t>
            </a:r>
            <a:r>
              <a:rPr lang="en-US" dirty="0" err="1" smtClean="0"/>
              <a:t>Analysis:Used</a:t>
            </a:r>
            <a:r>
              <a:rPr lang="en-US" dirty="0" smtClean="0"/>
              <a:t> for analyzing higher-value orders.</a:t>
            </a:r>
            <a:endParaRPr lang="en-US" dirty="0"/>
          </a:p>
        </p:txBody>
      </p:sp>
      <p:pic>
        <p:nvPicPr>
          <p:cNvPr id="5" name="Picture 4" descr="Q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33600" y="2819400"/>
            <a:ext cx="4800600" cy="12954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762000" y="1447800"/>
            <a:ext cx="8077200" cy="6858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Comment:-- This query retrieves unique genres from the Books table.</a:t>
            </a:r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"/>
            <a:ext cx="7772400" cy="10667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Query 9: List all available genres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95400" y="4953000"/>
            <a:ext cx="50292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fr-FR" b="1" dirty="0" err="1" smtClean="0"/>
              <a:t>Analysis</a:t>
            </a:r>
            <a:r>
              <a:rPr lang="fr-FR" b="1" dirty="0" smtClean="0"/>
              <a:t>:-</a:t>
            </a:r>
          </a:p>
          <a:p>
            <a:r>
              <a:rPr lang="fr-FR" dirty="0" smtClean="0"/>
              <a:t>DISTINCT </a:t>
            </a:r>
            <a:r>
              <a:rPr lang="fr-FR" dirty="0" err="1" smtClean="0"/>
              <a:t>removes</a:t>
            </a:r>
            <a:r>
              <a:rPr lang="fr-FR" dirty="0" smtClean="0"/>
              <a:t> duplicate genre values.</a:t>
            </a:r>
            <a:endParaRPr lang="en-US" dirty="0"/>
          </a:p>
        </p:txBody>
      </p:sp>
      <p:pic>
        <p:nvPicPr>
          <p:cNvPr id="5" name="Picture 4" descr="Q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0" y="2743200"/>
            <a:ext cx="6019800" cy="14478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676400"/>
            <a:ext cx="7467600" cy="6858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Comment:-- This query finds the book with minimum stock.</a:t>
            </a:r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0"/>
            <a:ext cx="7772400" cy="1143000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Query 10: Find the book with the lowest stock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19200" y="4495800"/>
            <a:ext cx="56388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Analysis:-</a:t>
            </a:r>
          </a:p>
          <a:p>
            <a:r>
              <a:rPr lang="en-US" dirty="0" smtClean="0"/>
              <a:t>Helps identify books that need restocking.</a:t>
            </a:r>
            <a:endParaRPr lang="en-US" dirty="0"/>
          </a:p>
        </p:txBody>
      </p:sp>
      <p:pic>
        <p:nvPicPr>
          <p:cNvPr id="5" name="Picture 4" descr="Q10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0" y="2895600"/>
            <a:ext cx="4572000" cy="12954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828800"/>
            <a:ext cx="8382000" cy="762000"/>
          </a:xfrm>
        </p:spPr>
        <p:txBody>
          <a:bodyPr>
            <a:normAutofit/>
          </a:bodyPr>
          <a:lstStyle/>
          <a:p>
            <a:r>
              <a:rPr lang="en-US" b="1" dirty="0" smtClean="0"/>
              <a:t>Comment:-- This query calculates total books sold per                genre using JOIN and GROUP BY.</a:t>
            </a:r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04801"/>
            <a:ext cx="7772400" cy="12191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Query 11: Total number of books sold for each genre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143000" y="5333999"/>
            <a:ext cx="57150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Analysis:-</a:t>
            </a:r>
          </a:p>
          <a:p>
            <a:r>
              <a:rPr lang="en-US" dirty="0" smtClean="0"/>
              <a:t>Combines Books and Orders tables to perform genre-wise sales analysis.</a:t>
            </a:r>
            <a:endParaRPr lang="en-US" dirty="0"/>
          </a:p>
        </p:txBody>
      </p:sp>
      <p:pic>
        <p:nvPicPr>
          <p:cNvPr id="5" name="Picture 4" descr="Q11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00200" y="2895600"/>
            <a:ext cx="6096000" cy="20574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2057400"/>
            <a:ext cx="7315200" cy="457200"/>
          </a:xfrm>
        </p:spPr>
        <p:txBody>
          <a:bodyPr>
            <a:normAutofit fontScale="70000" lnSpcReduction="20000"/>
          </a:bodyPr>
          <a:lstStyle/>
          <a:p>
            <a:r>
              <a:rPr lang="en-US" b="1" dirty="0" smtClean="0"/>
              <a:t>Comment:-- This query calculates average price of Fantasy genre books.</a:t>
            </a:r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1"/>
            <a:ext cx="7772400" cy="12191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Query 12: Average price of Fantasy books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95400" y="4876800"/>
            <a:ext cx="5334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Analysis:-</a:t>
            </a:r>
          </a:p>
          <a:p>
            <a:r>
              <a:rPr lang="en-US" dirty="0" smtClean="0"/>
              <a:t>AVG() helps in pricing analysis for a specific genre.</a:t>
            </a:r>
            <a:endParaRPr lang="en-US" dirty="0"/>
          </a:p>
        </p:txBody>
      </p:sp>
      <p:pic>
        <p:nvPicPr>
          <p:cNvPr id="5" name="Picture 4" descr="Q12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81200" y="2819400"/>
            <a:ext cx="5105400" cy="13716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7200" y="1676400"/>
            <a:ext cx="8001000" cy="6858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Comment:-- This query finds customers who have placed two or more orders.</a:t>
            </a:r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28601"/>
            <a:ext cx="7772400" cy="12953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Query 13: Customers who placed at least 2 orders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14400" y="5562600"/>
            <a:ext cx="5943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Analysis:-</a:t>
            </a:r>
          </a:p>
          <a:p>
            <a:r>
              <a:rPr lang="en-US" dirty="0" smtClean="0"/>
              <a:t>HAVING is used with aggregate functions for filtering grouped data.</a:t>
            </a:r>
            <a:endParaRPr lang="en-US" dirty="0"/>
          </a:p>
        </p:txBody>
      </p:sp>
      <p:pic>
        <p:nvPicPr>
          <p:cNvPr id="5" name="Picture 4" descr="Q13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2590800"/>
            <a:ext cx="7924800" cy="26670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8600" y="1905000"/>
            <a:ext cx="8686800" cy="762000"/>
          </a:xfrm>
        </p:spPr>
        <p:txBody>
          <a:bodyPr>
            <a:normAutofit/>
          </a:bodyPr>
          <a:lstStyle/>
          <a:p>
            <a:r>
              <a:rPr lang="en-US" b="1" dirty="0" smtClean="0"/>
              <a:t>Comment:-- This query identifies the most frequently ordered book.</a:t>
            </a:r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1"/>
            <a:ext cx="8153400" cy="12191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Query 14: Most frequently ordered book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95401" y="5715000"/>
            <a:ext cx="448760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Analysis:-</a:t>
            </a:r>
          </a:p>
          <a:p>
            <a:r>
              <a:rPr lang="en-US" dirty="0" smtClean="0"/>
              <a:t>Useful to find best-selling books.</a:t>
            </a:r>
            <a:endParaRPr lang="en-US" dirty="0"/>
          </a:p>
        </p:txBody>
      </p:sp>
      <p:pic>
        <p:nvPicPr>
          <p:cNvPr id="5" name="Picture 4" descr="Q14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19200" y="2743200"/>
            <a:ext cx="6858000" cy="26670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905000"/>
            <a:ext cx="8153400" cy="6858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Comment:-- This query retrieves top 3 expensive Fantasy books</a:t>
            </a:r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381001"/>
            <a:ext cx="7772400" cy="10667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Query 15: Top 3 most expensive Fantasy books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19200" y="5181600"/>
            <a:ext cx="457210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Analysis:-</a:t>
            </a:r>
          </a:p>
          <a:p>
            <a:r>
              <a:rPr lang="en-US" dirty="0" smtClean="0"/>
              <a:t>Used for premium book analysis.</a:t>
            </a:r>
            <a:endParaRPr lang="en-US" dirty="0"/>
          </a:p>
        </p:txBody>
      </p:sp>
      <p:pic>
        <p:nvPicPr>
          <p:cNvPr id="5" name="Picture 4" descr="Q15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52600" y="2743200"/>
            <a:ext cx="5638800" cy="22098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09600" y="1752600"/>
            <a:ext cx="7772400" cy="685800"/>
          </a:xfrm>
        </p:spPr>
        <p:txBody>
          <a:bodyPr>
            <a:normAutofit fontScale="92500" lnSpcReduction="10000"/>
          </a:bodyPr>
          <a:lstStyle/>
          <a:p>
            <a:r>
              <a:rPr lang="en-US" b="1" dirty="0" smtClean="0"/>
              <a:t>Comment:-- This query calculates total books sold by each author.</a:t>
            </a:r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28600" y="381001"/>
            <a:ext cx="8686800" cy="11429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Query 16: Total quantity of books sold by each author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295400" y="4953001"/>
            <a:ext cx="4781852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analysis:-</a:t>
            </a:r>
          </a:p>
          <a:p>
            <a:r>
              <a:rPr lang="en-US" dirty="0" smtClean="0"/>
              <a:t>Helps evaluate author performance.</a:t>
            </a:r>
            <a:endParaRPr lang="en-US" dirty="0"/>
          </a:p>
        </p:txBody>
      </p:sp>
      <p:pic>
        <p:nvPicPr>
          <p:cNvPr id="5" name="Picture 4" descr="Q16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76400" y="2514600"/>
            <a:ext cx="5867400" cy="22098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828800"/>
            <a:ext cx="7696200" cy="762000"/>
          </a:xfrm>
        </p:spPr>
        <p:txBody>
          <a:bodyPr>
            <a:normAutofit/>
          </a:bodyPr>
          <a:lstStyle/>
          <a:p>
            <a:r>
              <a:rPr lang="en-US" b="1" dirty="0" smtClean="0"/>
              <a:t>Comment:-- This query finds cities of customers who spent more than $30.</a:t>
            </a:r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7772400" cy="11429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Query 17: Cities where customers spent over $30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066800" y="5105400"/>
            <a:ext cx="370165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Analysis:-</a:t>
            </a:r>
          </a:p>
          <a:p>
            <a:r>
              <a:rPr lang="en-US" dirty="0" smtClean="0"/>
              <a:t>Useful for geographical sales analysis.</a:t>
            </a:r>
            <a:endParaRPr lang="en-US" dirty="0"/>
          </a:p>
        </p:txBody>
      </p:sp>
      <p:pic>
        <p:nvPicPr>
          <p:cNvPr id="5" name="Picture 4" descr="Q17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2766060"/>
            <a:ext cx="6400800" cy="218694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14400" y="1981200"/>
            <a:ext cx="7696200" cy="457200"/>
          </a:xfrm>
        </p:spPr>
        <p:txBody>
          <a:bodyPr>
            <a:normAutofit fontScale="77500" lnSpcReduction="20000"/>
          </a:bodyPr>
          <a:lstStyle/>
          <a:p>
            <a:r>
              <a:rPr lang="en-US" b="1" dirty="0" smtClean="0"/>
              <a:t>Comment:-- This query identifies the highest spending customer.</a:t>
            </a:r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457201"/>
            <a:ext cx="8229600" cy="12953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Query 18: Customer who spent the most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1143001" y="5181600"/>
            <a:ext cx="381000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Analysis:</a:t>
            </a:r>
          </a:p>
          <a:p>
            <a:r>
              <a:rPr lang="en-US" b="1" dirty="0" smtClean="0"/>
              <a:t>-</a:t>
            </a:r>
            <a:r>
              <a:rPr lang="en-US" dirty="0" smtClean="0"/>
              <a:t>Helps identify valuable customers.</a:t>
            </a:r>
            <a:endParaRPr lang="en-US" dirty="0"/>
          </a:p>
        </p:txBody>
      </p:sp>
      <p:pic>
        <p:nvPicPr>
          <p:cNvPr id="5" name="Picture 4" descr="Q18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66800" y="2514600"/>
            <a:ext cx="7010400" cy="25146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04800" y="1600200"/>
            <a:ext cx="8610600" cy="609600"/>
          </a:xfrm>
        </p:spPr>
        <p:txBody>
          <a:bodyPr>
            <a:normAutofit fontScale="92500" lnSpcReduction="20000"/>
          </a:bodyPr>
          <a:lstStyle/>
          <a:p>
            <a:r>
              <a:rPr lang="en-US" b="1" dirty="0" smtClean="0"/>
              <a:t>Comment:-- This query calculates remaining stock after deducting ordered quantity.</a:t>
            </a:r>
            <a:endParaRPr lang="en-US" b="1" dirty="0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81000" y="381001"/>
            <a:ext cx="8458200" cy="1066799"/>
          </a:xfrm>
        </p:spPr>
        <p:txBody>
          <a:bodyPr>
            <a:normAutofit fontScale="90000"/>
          </a:bodyPr>
          <a:lstStyle/>
          <a:p>
            <a:r>
              <a:rPr lang="en-US" dirty="0" smtClean="0"/>
              <a:t> Query 19: Remaining stock after fulfilling all orders</a:t>
            </a:r>
            <a:endParaRPr lang="en-US" dirty="0"/>
          </a:p>
        </p:txBody>
      </p:sp>
      <p:sp>
        <p:nvSpPr>
          <p:cNvPr id="4" name="Rectangle 3"/>
          <p:cNvSpPr/>
          <p:nvPr/>
        </p:nvSpPr>
        <p:spPr>
          <a:xfrm>
            <a:off x="914400" y="5181599"/>
            <a:ext cx="5562600" cy="9233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 smtClean="0"/>
              <a:t>Analysis</a:t>
            </a:r>
            <a:r>
              <a:rPr lang="en-US" dirty="0" smtClean="0"/>
              <a:t>:-</a:t>
            </a:r>
          </a:p>
          <a:p>
            <a:r>
              <a:rPr lang="en-US" dirty="0" smtClean="0"/>
              <a:t>LEFT JOIN ensures books with no orders are also included. :-</a:t>
            </a:r>
            <a:endParaRPr lang="en-US" dirty="0"/>
          </a:p>
        </p:txBody>
      </p:sp>
      <p:pic>
        <p:nvPicPr>
          <p:cNvPr id="5" name="Picture 4" descr="Q19.jpe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43000" y="2362200"/>
            <a:ext cx="7010400" cy="259080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Learned basic &amp; advanced SQL queries</a:t>
            </a:r>
          </a:p>
          <a:p>
            <a:r>
              <a:rPr lang="en-US" dirty="0" smtClean="0"/>
              <a:t>Used JOIN, GROUP BY, HAVING</a:t>
            </a:r>
          </a:p>
          <a:p>
            <a:r>
              <a:rPr lang="en-US" dirty="0" smtClean="0"/>
              <a:t>Suitable for beginner level project</a:t>
            </a:r>
          </a:p>
          <a:p>
            <a:r>
              <a:rPr lang="en-US" dirty="0" smtClean="0"/>
              <a:t>Strong foundation for database concepts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 CONCLUSION</a:t>
            </a:r>
            <a:endParaRPr lang="en-US" dirty="0"/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per">
  <a:themeElements>
    <a:clrScheme name="Paper">
      <a:dk1>
        <a:sysClr val="windowText" lastClr="000000"/>
      </a:dk1>
      <a:lt1>
        <a:sysClr val="window" lastClr="FFFFFF"/>
      </a:lt1>
      <a:dk2>
        <a:srgbClr val="444D26"/>
      </a:dk2>
      <a:lt2>
        <a:srgbClr val="FEFAC9"/>
      </a:lt2>
      <a:accent1>
        <a:srgbClr val="A5B592"/>
      </a:accent1>
      <a:accent2>
        <a:srgbClr val="F3A447"/>
      </a:accent2>
      <a:accent3>
        <a:srgbClr val="E7BC29"/>
      </a:accent3>
      <a:accent4>
        <a:srgbClr val="D092A7"/>
      </a:accent4>
      <a:accent5>
        <a:srgbClr val="9C85C0"/>
      </a:accent5>
      <a:accent6>
        <a:srgbClr val="809EC2"/>
      </a:accent6>
      <a:hlink>
        <a:srgbClr val="8E58B6"/>
      </a:hlink>
      <a:folHlink>
        <a:srgbClr val="7F6F6F"/>
      </a:folHlink>
    </a:clrScheme>
    <a:fontScheme name="Paper">
      <a:maj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onstantia"/>
        <a:ea typeface=""/>
        <a:cs typeface=""/>
        <a:font script="Jpan" typeface="HG明朝E"/>
        <a:font script="Hang" typeface="궁서"/>
        <a:font script="Hans" typeface="华文新魏"/>
        <a:font script="Hant" typeface="標楷體"/>
        <a:font script="Arab" typeface="Times New Roman"/>
        <a:font script="Hebr" typeface="Times New Roman"/>
        <a:font script="Thai" typeface="Browalli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Paper">
      <a: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63000"/>
                <a:tint val="82000"/>
              </a:schemeClr>
              <a:schemeClr val="phClr">
                <a:tint val="10000"/>
                <a:satMod val="400000"/>
              </a:schemeClr>
            </a:duotone>
          </a:blip>
          <a:tile tx="0" ty="0" sx="40000" sy="40000" flip="none" algn="tl"/>
        </a:blipFill>
        <a:blipFill>
          <a:blip xmlns:r="http://schemas.openxmlformats.org/officeDocument/2006/relationships" r:embed="rId1">
            <a:duotone>
              <a:schemeClr val="phClr">
                <a:shade val="40000"/>
              </a:schemeClr>
              <a:schemeClr val="phClr">
                <a:tint val="42000"/>
              </a:schemeClr>
            </a:duotone>
          </a:blip>
          <a:tile tx="0" ty="0" sx="40000" sy="40000" flip="none" algn="tl"/>
        </a:blipFill>
      </a:fillStyleLst>
      <a:lnStyleLst>
        <a:ln w="127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  <a:ln w="635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rotWithShape="0">
              <a:srgbClr val="000000">
                <a:alpha val="50000"/>
              </a:srgbClr>
            </a:outerShdw>
            <a:softEdge rad="12700"/>
          </a:effectLst>
        </a:effectStyle>
        <a:effectStyle>
          <a:effectLst>
            <a:outerShdw blurRad="95000" algn="tl" rotWithShape="0">
              <a:srgbClr val="000000">
                <a:alpha val="50000"/>
              </a:srgbClr>
            </a:outerShdw>
          </a:effectLst>
          <a:scene3d>
            <a:camera prst="orthographicFront"/>
            <a:lightRig rig="soft" dir="t">
              <a:rot lat="0" lon="0" rev="18000000"/>
            </a:lightRig>
          </a:scene3d>
          <a:sp3d prstMaterial="dkEdge">
            <a:bevelT w="73660" h="44450" prst="riblet"/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55000"/>
                <a:alpha val="20000"/>
              </a:schemeClr>
              <a:schemeClr val="phClr">
                <a:tint val="40000"/>
                <a:shade val="90000"/>
                <a:satMod val="60000"/>
                <a:alpha val="20000"/>
              </a:schemeClr>
            </a:duotone>
          </a:blip>
          <a:tile tx="0" ty="0" sx="58000" sy="38000" flip="none" algn="tl"/>
        </a:blipFill>
        <a:blipFill>
          <a:blip xmlns:r="http://schemas.openxmlformats.org/officeDocument/2006/relationships" r:embed="rId2">
            <a:duotone>
              <a:schemeClr val="phClr">
                <a:shade val="12000"/>
                <a:satMod val="240000"/>
              </a:schemeClr>
              <a:schemeClr val="phClr">
                <a:tint val="65000"/>
              </a:schemeClr>
            </a:duotone>
          </a:blip>
          <a:stretch>
            <a:fillRect/>
          </a:stretch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Paper</Template>
  <TotalTime>377</TotalTime>
  <Words>786</Words>
  <Application>Microsoft Office PowerPoint</Application>
  <PresentationFormat>On-screen Show (4:3)</PresentationFormat>
  <Paragraphs>101</Paragraphs>
  <Slides>23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24" baseType="lpstr">
      <vt:lpstr>Paper</vt:lpstr>
      <vt:lpstr>SQL BOOK STORE ANALYSIS</vt:lpstr>
      <vt:lpstr>PROJECT OVERVIEW</vt:lpstr>
      <vt:lpstr>DATABASE STRUCTURE</vt:lpstr>
      <vt:lpstr> Query 1: Retrieve all books in the Fiction genre</vt:lpstr>
      <vt:lpstr>Query 2: Find books published after 1950</vt:lpstr>
      <vt:lpstr>Query 3: List all customers from Canada</vt:lpstr>
      <vt:lpstr>Query 4: Show orders placed in November 2023</vt:lpstr>
      <vt:lpstr>Query 5: Retrieve total stock of books available</vt:lpstr>
      <vt:lpstr>Query 6: Find the most expensive book</vt:lpstr>
      <vt:lpstr>Query 7: Show orders where quantity is more than 1</vt:lpstr>
      <vt:lpstr>Query 8: Retrieve orders where total amount exceeds 20</vt:lpstr>
      <vt:lpstr> Query 9: List all available genres</vt:lpstr>
      <vt:lpstr> Query 10: Find the book with the lowest stock</vt:lpstr>
      <vt:lpstr> Query 11: Total number of books sold for each genre</vt:lpstr>
      <vt:lpstr>Query 12: Average price of Fantasy books</vt:lpstr>
      <vt:lpstr>Query 13: Customers who placed at least 2 orders</vt:lpstr>
      <vt:lpstr>Query 14: Most frequently ordered book</vt:lpstr>
      <vt:lpstr>Query 15: Top 3 most expensive Fantasy books</vt:lpstr>
      <vt:lpstr>Query 16: Total quantity of books sold by each author</vt:lpstr>
      <vt:lpstr>Query 17: Cities where customers spent over $30</vt:lpstr>
      <vt:lpstr>Query 18: Customer who spent the most</vt:lpstr>
      <vt:lpstr> Query 19: Remaining stock after fulfilling all orders</vt:lpstr>
      <vt:lpstr> CONCLUSION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BOOK STORE MANAGEMENT SYSTEM</dc:title>
  <dc:creator>HP</dc:creator>
  <cp:lastModifiedBy>HP</cp:lastModifiedBy>
  <cp:revision>25</cp:revision>
  <dcterms:created xsi:type="dcterms:W3CDTF">2026-01-30T17:33:00Z</dcterms:created>
  <dcterms:modified xsi:type="dcterms:W3CDTF">2026-02-06T07:36:41Z</dcterms:modified>
</cp:coreProperties>
</file>